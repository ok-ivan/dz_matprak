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елёный холмистый пейзаж"/>
          <p:cNvSpPr/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3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Камни, покрытые мхом"/>
          <p:cNvSpPr/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Заголовок слайда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Большая скала под тёмными облаками с грунтовой дорогой на переднем плане"/>
          <p:cNvSpPr/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слайда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2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3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Заголовок слайда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2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3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1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7" name="Уровень текста 1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Уровень текста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Крупный план дикорастущих растений между камнями"/>
          <p:cNvSpPr/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Большая скала под тёмными облаками с грунтовой дорогой на переднем плане"/>
          <p:cNvSpPr/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Крупный план дикого растения между вулканическими камнями"/>
          <p:cNvSpPr/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водопад в окружении скал и растительности"/>
          <p:cNvSpPr/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1.jpeg"/><Relationship Id="rId4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Выполнил: студент 332 группы Кузнецов И. В."/>
          <p:cNvSpPr txBox="1"/>
          <p:nvPr>
            <p:ph type="body" idx="21"/>
          </p:nvPr>
        </p:nvSpPr>
        <p:spPr>
          <a:xfrm>
            <a:off x="1228646" y="11263223"/>
            <a:ext cx="9775368" cy="6369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3200"/>
            </a:lvl1pPr>
          </a:lstStyle>
          <a:p>
            <a:pPr/>
            <a:r>
              <a:t>Выполнил: студент 332 группы Кузнецов И. В. </a:t>
            </a:r>
          </a:p>
        </p:txBody>
      </p:sp>
      <p:sp>
        <p:nvSpPr>
          <p:cNvPr id="172" name="Предсказания наград NBA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Предсказания наград NBA</a:t>
            </a:r>
          </a:p>
        </p:txBody>
      </p:sp>
      <p:sp>
        <p:nvSpPr>
          <p:cNvPr id="173" name="NBA champion, MVP, DPOY, MIP, ROTY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NBA champion, MVP, DPOY, MIP, ROTY</a:t>
            </a:r>
          </a:p>
        </p:txBody>
      </p:sp>
      <p:sp>
        <p:nvSpPr>
          <p:cNvPr id="174" name="Проверил: преподаватель кафедры теории вероятности Киселюс В."/>
          <p:cNvSpPr txBox="1"/>
          <p:nvPr/>
        </p:nvSpPr>
        <p:spPr>
          <a:xfrm>
            <a:off x="1228646" y="12143226"/>
            <a:ext cx="15652924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400"/>
            </a:lvl1pPr>
          </a:lstStyle>
          <a:p>
            <a:pPr/>
            <a:r>
              <a:t>Проверил: преподаватель кафедры теории вероятности Киселюс В.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Вводная теори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Вводная теория</a:t>
            </a:r>
          </a:p>
        </p:txBody>
      </p:sp>
      <p:pic>
        <p:nvPicPr>
          <p:cNvPr id="177" name="basketball-court-top-view-minimalist-blue-court-with-long-shadows-daylight-from-aerial-view_141856-655.jpg.avif" descr="basketball-court-top-view-minimalist-blue-court-with-long-shadows-daylight-from-aerial-view_141856-655.jpg.av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7668" y="3892550"/>
            <a:ext cx="7950201" cy="5930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nba-conference-standings-as-of-01-01-25-v0-l44ixxh22fae1.jpg.jpeg" descr="nba-conference-standings-as-of-01-01-25-v0-l44ixxh22fae1.jpg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930280" y="3834374"/>
            <a:ext cx="5121861" cy="75947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Gw4lQ6kF6LGzZRxIunCOwlaVprnzb4EGLbfuTo81zPTube9jpta3OJRBYfwsyd8DZ9v5xM1hEdH9MnX-xB_P056.jpg" descr="pGw4lQ6kF6LGzZRxIunCOwlaVprnzb4EGLbfuTo81zPTube9jpta3OJRBYfwsyd8DZ9v5xM1hEdH9MnX-xB_P056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278905" y="3834374"/>
            <a:ext cx="6075807" cy="7594758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Очки, броски, конференции и тип чемпионата"/>
          <p:cNvSpPr txBox="1"/>
          <p:nvPr/>
        </p:nvSpPr>
        <p:spPr>
          <a:xfrm>
            <a:off x="1206500" y="2186857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Очки, броски, конференции и тип чемпионата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warp dir="in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Почему я выбрал именно такое количество данных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926287">
              <a:defRPr spc="-134" sz="6715"/>
            </a:lvl1pPr>
          </a:lstStyle>
          <a:p>
            <a:pPr/>
            <a:r>
              <a:t>Почему я выбрал именно такое количество данных?</a:t>
            </a:r>
          </a:p>
        </p:txBody>
      </p:sp>
      <p:sp>
        <p:nvSpPr>
          <p:cNvPr id="183" name="Я загрузил данные с сезона 2013/14 по сезон 2025/26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4400"/>
            </a:lvl1pPr>
          </a:lstStyle>
          <a:p>
            <a:pPr/>
            <a:r>
              <a:t>Я загрузил данные с сезона 2013/14 по сезон 2025/26</a:t>
            </a:r>
          </a:p>
        </p:txBody>
      </p:sp>
      <p:pic>
        <p:nvPicPr>
          <p:cNvPr id="184" name="statprak9.png" descr="statprak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4569" y="4766481"/>
            <a:ext cx="14550251" cy="72200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statprak6.png" descr="statprak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185046" y="4706095"/>
            <a:ext cx="8704544" cy="69421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Сравнение плей-офф и регулярк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Сравнение плей-офф и регулярки </a:t>
            </a:r>
          </a:p>
        </p:txBody>
      </p:sp>
      <p:pic>
        <p:nvPicPr>
          <p:cNvPr id="188" name="statprak1.png" descr="statprak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1886" y="2371484"/>
            <a:ext cx="16352454" cy="112274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Боксплоты и корреляционная матриц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Боксплоты и корреляционная матрица</a:t>
            </a:r>
          </a:p>
        </p:txBody>
      </p:sp>
      <p:pic>
        <p:nvPicPr>
          <p:cNvPr id="191" name="statprak2.png" descr="statprak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472" y="3618496"/>
            <a:ext cx="13147347" cy="8686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statprak3.png" descr="statprak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054125" y="3549319"/>
            <a:ext cx="9986359" cy="88251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warp dir="i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Модели и метрик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Модели и метрики </a:t>
            </a:r>
          </a:p>
        </p:txBody>
      </p:sp>
      <p:sp>
        <p:nvSpPr>
          <p:cNvPr id="195" name="Модели:"/>
          <p:cNvSpPr txBox="1"/>
          <p:nvPr>
            <p:ph type="body" idx="21"/>
          </p:nvPr>
        </p:nvSpPr>
        <p:spPr>
          <a:xfrm>
            <a:off x="1184352" y="2971503"/>
            <a:ext cx="4184859" cy="125764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5200"/>
            </a:lvl1pPr>
          </a:lstStyle>
          <a:p>
            <a:pPr/>
            <a:r>
              <a:t>Модели:</a:t>
            </a:r>
          </a:p>
        </p:txBody>
      </p:sp>
      <p:sp>
        <p:nvSpPr>
          <p:cNvPr id="196" name="RandomForest…"/>
          <p:cNvSpPr txBox="1"/>
          <p:nvPr>
            <p:ph type="body" sz="half" idx="1"/>
          </p:nvPr>
        </p:nvSpPr>
        <p:spPr>
          <a:xfrm>
            <a:off x="1250794" y="4460632"/>
            <a:ext cx="15519695" cy="5686943"/>
          </a:xfrm>
          <a:prstGeom prst="rect">
            <a:avLst/>
          </a:prstGeom>
        </p:spPr>
        <p:txBody>
          <a:bodyPr/>
          <a:lstStyle/>
          <a:p>
            <a:pPr/>
            <a:r>
              <a:t>RandomForest</a:t>
            </a:r>
          </a:p>
          <a:p>
            <a:pPr/>
            <a:r>
              <a:t>LogisticRegression</a:t>
            </a:r>
          </a:p>
          <a:p>
            <a:pPr/>
            <a:r>
              <a:t>XGBoost</a:t>
            </a:r>
          </a:p>
          <a:p>
            <a:pPr/>
            <a:r>
              <a:t>LightGBM</a:t>
            </a:r>
          </a:p>
        </p:txBody>
      </p:sp>
      <p:sp>
        <p:nvSpPr>
          <p:cNvPr id="197" name="Метрики:"/>
          <p:cNvSpPr txBox="1"/>
          <p:nvPr/>
        </p:nvSpPr>
        <p:spPr>
          <a:xfrm>
            <a:off x="11482772" y="2971503"/>
            <a:ext cx="21971001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200"/>
            </a:lvl1pPr>
          </a:lstStyle>
          <a:p>
            <a:pPr/>
            <a:r>
              <a:t>Метрики:</a:t>
            </a:r>
          </a:p>
        </p:txBody>
      </p:sp>
      <p:sp>
        <p:nvSpPr>
          <p:cNvPr id="198" name="LogLoss…"/>
          <p:cNvSpPr txBox="1"/>
          <p:nvPr/>
        </p:nvSpPr>
        <p:spPr>
          <a:xfrm>
            <a:off x="11416331" y="4337093"/>
            <a:ext cx="11048568" cy="5396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>
              <a:buSzPct val="123000"/>
              <a:buChar char="•"/>
            </a:pPr>
            <a:r>
              <a:t>LogLoss</a:t>
            </a:r>
          </a:p>
          <a:p>
            <a:pPr marL="609600" indent="-609600">
              <a:buSzPct val="123000"/>
              <a:buChar char="•"/>
            </a:pPr>
            <a:r>
              <a:t>Brier</a:t>
            </a:r>
          </a:p>
          <a:p>
            <a:pPr marL="609600" indent="-609600">
              <a:buSzPct val="123000"/>
              <a:buChar char="•"/>
            </a:pPr>
            <a:r>
              <a:t>Precision</a:t>
            </a:r>
          </a:p>
          <a:p>
            <a:pPr marL="609600" indent="-609600">
              <a:buSzPct val="123000"/>
              <a:buChar char="•"/>
            </a:pPr>
            <a:r>
              <a:t>AUC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warp dir="i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Признаки для каждой из наград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Признаки для каждой из наград</a:t>
            </a:r>
          </a:p>
        </p:txBody>
      </p:sp>
      <p:pic>
        <p:nvPicPr>
          <p:cNvPr id="201" name="Снимок экрана 2026-05-14 в 03.23.49.png" descr="Снимок экрана 2026-05-14 в 03.23.4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072" y="7329354"/>
            <a:ext cx="22555856" cy="3661188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Выбор различных признаков обусловлен тем, что каждая из наград учитывает свой аспект игры"/>
          <p:cNvSpPr txBox="1"/>
          <p:nvPr/>
        </p:nvSpPr>
        <p:spPr>
          <a:xfrm>
            <a:off x="1184352" y="2971503"/>
            <a:ext cx="16339486" cy="1257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02615">
              <a:lnSpc>
                <a:spcPct val="100000"/>
              </a:lnSpc>
              <a:spcBef>
                <a:spcPts val="0"/>
              </a:spcBef>
              <a:defRPr b="1" sz="3796"/>
            </a:lvl1pPr>
          </a:lstStyle>
          <a:p>
            <a:pPr/>
            <a:r>
              <a:t>Выбор различных признаков обусловлен тем, что каждая из наград учитывает свой аспект игры</a:t>
            </a:r>
          </a:p>
        </p:txBody>
      </p:sp>
      <p:sp>
        <p:nvSpPr>
          <p:cNvPr id="203" name="MVP - Самый ценный игрок…"/>
          <p:cNvSpPr txBox="1"/>
          <p:nvPr/>
        </p:nvSpPr>
        <p:spPr>
          <a:xfrm>
            <a:off x="1206500" y="4449478"/>
            <a:ext cx="16977773" cy="2446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defTabSz="478790">
              <a:lnSpc>
                <a:spcPct val="100000"/>
              </a:lnSpc>
              <a:spcBef>
                <a:spcPts val="0"/>
              </a:spcBef>
              <a:defRPr b="1" sz="3016"/>
            </a:pPr>
            <a:r>
              <a:t>MVP - Самый ценный игрок </a:t>
            </a:r>
          </a:p>
          <a:p>
            <a:pPr defTabSz="478790">
              <a:lnSpc>
                <a:spcPct val="100000"/>
              </a:lnSpc>
              <a:spcBef>
                <a:spcPts val="0"/>
              </a:spcBef>
              <a:defRPr b="1" sz="3016"/>
            </a:pPr>
            <a:r>
              <a:t>ROTY - тот же MVP, но только для новичков</a:t>
            </a:r>
          </a:p>
          <a:p>
            <a:pPr defTabSz="478790">
              <a:lnSpc>
                <a:spcPct val="100000"/>
              </a:lnSpc>
              <a:spcBef>
                <a:spcPts val="0"/>
              </a:spcBef>
              <a:defRPr b="1" sz="3016"/>
            </a:pPr>
            <a:r>
              <a:t>DPOY - Лучший защитный игрок</a:t>
            </a:r>
          </a:p>
          <a:p>
            <a:pPr defTabSz="478790">
              <a:lnSpc>
                <a:spcPct val="100000"/>
              </a:lnSpc>
              <a:spcBef>
                <a:spcPts val="0"/>
              </a:spcBef>
              <a:defRPr b="1" sz="3016"/>
            </a:pPr>
            <a:r>
              <a:t>MIP - Самый спрогрессировавший игрок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warp dir="i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OTY"/>
          <p:cNvSpPr txBox="1"/>
          <p:nvPr>
            <p:ph type="title"/>
          </p:nvPr>
        </p:nvSpPr>
        <p:spPr>
          <a:xfrm>
            <a:off x="1206500" y="948957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ROTY</a:t>
            </a:r>
          </a:p>
        </p:txBody>
      </p:sp>
      <p:pic>
        <p:nvPicPr>
          <p:cNvPr id="206" name="Снимок экрана 2026-05-14 в 00.08.50.png" descr="Снимок экрана 2026-05-14 в 00.08.5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8104" y="3485053"/>
            <a:ext cx="9266700" cy="2824995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prak7.png" descr="prak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438498" y="2312902"/>
            <a:ext cx="7477154" cy="4460588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Как себя показали модели и лучшие признаки"/>
          <p:cNvSpPr txBox="1"/>
          <p:nvPr/>
        </p:nvSpPr>
        <p:spPr>
          <a:xfrm>
            <a:off x="1187702" y="2393064"/>
            <a:ext cx="10528695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Как себя показали модели и лучшие признаки </a:t>
            </a:r>
          </a:p>
        </p:txBody>
      </p:sp>
      <p:sp>
        <p:nvSpPr>
          <p:cNvPr id="209" name="Предсказание победителя моделью, показавшей лучший результат, и моделью результат, которой я счел наиболее реальным"/>
          <p:cNvSpPr txBox="1"/>
          <p:nvPr/>
        </p:nvSpPr>
        <p:spPr>
          <a:xfrm>
            <a:off x="755315" y="7004081"/>
            <a:ext cx="23695923" cy="548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Предсказание победителя моделью, показавшей лучший результат, и моделью результат, которой я счел наиболее реальным</a:t>
            </a:r>
          </a:p>
        </p:txBody>
      </p:sp>
      <p:pic>
        <p:nvPicPr>
          <p:cNvPr id="210" name="prak17.png" descr="prak17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51566" y="8246248"/>
            <a:ext cx="9173534" cy="5463308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Я сошелся в результатах с лучшей моделью - XGBoost"/>
          <p:cNvSpPr txBox="1"/>
          <p:nvPr/>
        </p:nvSpPr>
        <p:spPr>
          <a:xfrm>
            <a:off x="11418211" y="10431005"/>
            <a:ext cx="12058553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Я сошелся в результатах с лучшей моделью - XGBoost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warp dir="in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MIP"/>
          <p:cNvSpPr txBox="1"/>
          <p:nvPr>
            <p:ph type="title"/>
          </p:nvPr>
        </p:nvSpPr>
        <p:spPr>
          <a:xfrm>
            <a:off x="1206500" y="948957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MIP</a:t>
            </a:r>
          </a:p>
        </p:txBody>
      </p:sp>
      <p:pic>
        <p:nvPicPr>
          <p:cNvPr id="214" name="prak4.png" descr="prak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152" y="7331640"/>
            <a:ext cx="10320585" cy="61568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prac20.png" descr="prac2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024460" y="7149631"/>
            <a:ext cx="10930529" cy="65207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Снимок экрана 2026-05-14 в 00.07.42.png" descr="Снимок экрана 2026-05-14 в 00.07.42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133513" y="4704513"/>
            <a:ext cx="7925074" cy="22979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Снимок экрана 2026-05-14 в 00.08.26.png" descr="Снимок экрана 2026-05-14 в 00.08.26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575932" y="4704513"/>
            <a:ext cx="7559134" cy="2297977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Для самого прогрессировавшего игрока я попробовал переобучить модели на новых признаках"/>
          <p:cNvSpPr txBox="1"/>
          <p:nvPr/>
        </p:nvSpPr>
        <p:spPr>
          <a:xfrm>
            <a:off x="1097041" y="2485290"/>
            <a:ext cx="15031375" cy="960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Для самого прогрессировавшего игрока я попробовал переобучить модели на новых признаках</a:t>
            </a:r>
          </a:p>
        </p:txBody>
      </p:sp>
      <p:sp>
        <p:nvSpPr>
          <p:cNvPr id="219" name="Первое обучение:"/>
          <p:cNvSpPr txBox="1"/>
          <p:nvPr/>
        </p:nvSpPr>
        <p:spPr>
          <a:xfrm>
            <a:off x="2137956" y="3827230"/>
            <a:ext cx="4499373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Первое обучение:</a:t>
            </a:r>
          </a:p>
        </p:txBody>
      </p:sp>
      <p:sp>
        <p:nvSpPr>
          <p:cNvPr id="220" name="Переобучение:"/>
          <p:cNvSpPr txBox="1"/>
          <p:nvPr/>
        </p:nvSpPr>
        <p:spPr>
          <a:xfrm>
            <a:off x="14556618" y="3827230"/>
            <a:ext cx="4499372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Переобучение: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warp dir="in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MIP"/>
          <p:cNvSpPr txBox="1"/>
          <p:nvPr>
            <p:ph type="title"/>
          </p:nvPr>
        </p:nvSpPr>
        <p:spPr>
          <a:xfrm>
            <a:off x="1206500" y="948957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MIP</a:t>
            </a:r>
          </a:p>
        </p:txBody>
      </p:sp>
      <p:sp>
        <p:nvSpPr>
          <p:cNvPr id="223" name="Для прогноза победителя я выбрал RandomForest(он же показал себя лучше всего)"/>
          <p:cNvSpPr txBox="1"/>
          <p:nvPr/>
        </p:nvSpPr>
        <p:spPr>
          <a:xfrm>
            <a:off x="1097041" y="2691563"/>
            <a:ext cx="15793462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Для прогноза победителя я выбрал RandomForest(он же показал себя лучше всего)</a:t>
            </a:r>
          </a:p>
        </p:txBody>
      </p:sp>
      <p:pic>
        <p:nvPicPr>
          <p:cNvPr id="224" name="prak16.png" descr="prak1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1626" y="4286728"/>
            <a:ext cx="12916315" cy="76923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warp dir="in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DPOY"/>
          <p:cNvSpPr txBox="1"/>
          <p:nvPr>
            <p:ph type="title"/>
          </p:nvPr>
        </p:nvSpPr>
        <p:spPr>
          <a:xfrm>
            <a:off x="1206500" y="948957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DPOY</a:t>
            </a:r>
          </a:p>
        </p:txBody>
      </p:sp>
      <p:sp>
        <p:nvSpPr>
          <p:cNvPr id="227" name="Как себя показали модели и лучшие признаки"/>
          <p:cNvSpPr txBox="1"/>
          <p:nvPr/>
        </p:nvSpPr>
        <p:spPr>
          <a:xfrm>
            <a:off x="1187702" y="2393064"/>
            <a:ext cx="10528695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Как себя показали модели и лучшие признаки </a:t>
            </a:r>
          </a:p>
        </p:txBody>
      </p:sp>
      <p:sp>
        <p:nvSpPr>
          <p:cNvPr id="228" name="Предсказание победителя моделью, показавшей лучший результат, и моделью результат, которой я счел наиболее реальным"/>
          <p:cNvSpPr txBox="1"/>
          <p:nvPr/>
        </p:nvSpPr>
        <p:spPr>
          <a:xfrm>
            <a:off x="777462" y="6542111"/>
            <a:ext cx="23695923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Предсказание победителя моделью, показавшей лучший результат, и моделью результат, которой я счел наиболее реальным</a:t>
            </a:r>
          </a:p>
        </p:txBody>
      </p:sp>
      <p:pic>
        <p:nvPicPr>
          <p:cNvPr id="229" name="Снимок экрана 2026-05-14 в 00.07.18.png" descr="Снимок экрана 2026-05-14 в 00.07.1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19398" y="3524593"/>
            <a:ext cx="8038141" cy="253323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prak3.png" descr="prak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33168" y="1447004"/>
            <a:ext cx="8214263" cy="490031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prak10.png" descr="prak10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23858" y="7794416"/>
            <a:ext cx="10029220" cy="597291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" name="prak15.png" descr="prak15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308993" y="7794416"/>
            <a:ext cx="10029220" cy="5972913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LightGBM - по метрикам"/>
          <p:cNvSpPr txBox="1"/>
          <p:nvPr/>
        </p:nvSpPr>
        <p:spPr>
          <a:xfrm>
            <a:off x="809128" y="7285032"/>
            <a:ext cx="5037738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LightGBM - по метрикам</a:t>
            </a:r>
          </a:p>
        </p:txBody>
      </p:sp>
      <p:sp>
        <p:nvSpPr>
          <p:cNvPr id="234" name="RandomForest - по моему мнению"/>
          <p:cNvSpPr txBox="1"/>
          <p:nvPr/>
        </p:nvSpPr>
        <p:spPr>
          <a:xfrm>
            <a:off x="13316379" y="7285032"/>
            <a:ext cx="6638561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RandomForest - по моему мнению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warp dir="in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MVP"/>
          <p:cNvSpPr txBox="1"/>
          <p:nvPr>
            <p:ph type="title"/>
          </p:nvPr>
        </p:nvSpPr>
        <p:spPr>
          <a:xfrm>
            <a:off x="1206500" y="948957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MVP</a:t>
            </a:r>
          </a:p>
        </p:txBody>
      </p:sp>
      <p:sp>
        <p:nvSpPr>
          <p:cNvPr id="237" name="Как себя показали модели и лучшие признаки"/>
          <p:cNvSpPr txBox="1"/>
          <p:nvPr/>
        </p:nvSpPr>
        <p:spPr>
          <a:xfrm>
            <a:off x="1187702" y="2393064"/>
            <a:ext cx="10528695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Как себя показали модели и лучшие признаки </a:t>
            </a:r>
          </a:p>
        </p:txBody>
      </p:sp>
      <p:sp>
        <p:nvSpPr>
          <p:cNvPr id="238" name="Предсказание победителя моделью, показавшей лучший результат, и моделью результат, которой я счел наиболее реальным"/>
          <p:cNvSpPr txBox="1"/>
          <p:nvPr/>
        </p:nvSpPr>
        <p:spPr>
          <a:xfrm>
            <a:off x="777462" y="6542111"/>
            <a:ext cx="23695923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Предсказание победителя моделью, показавшей лучший результат, и моделью результат, которой я счел наиболее реальным</a:t>
            </a:r>
          </a:p>
        </p:txBody>
      </p:sp>
      <p:sp>
        <p:nvSpPr>
          <p:cNvPr id="239" name="LightGBM - по метрикам"/>
          <p:cNvSpPr txBox="1"/>
          <p:nvPr/>
        </p:nvSpPr>
        <p:spPr>
          <a:xfrm>
            <a:off x="809128" y="7285032"/>
            <a:ext cx="5037738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LightGBM - по метрикам</a:t>
            </a:r>
          </a:p>
        </p:txBody>
      </p:sp>
      <p:sp>
        <p:nvSpPr>
          <p:cNvPr id="240" name="XGBoost - по моему мнению"/>
          <p:cNvSpPr txBox="1"/>
          <p:nvPr/>
        </p:nvSpPr>
        <p:spPr>
          <a:xfrm>
            <a:off x="13316379" y="7285032"/>
            <a:ext cx="6638561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XGBoost - по моему мнению</a:t>
            </a:r>
          </a:p>
        </p:txBody>
      </p:sp>
      <p:pic>
        <p:nvPicPr>
          <p:cNvPr id="241" name="Снимок экрана 2026-05-14 в 00.06.56.png" descr="Снимок экрана 2026-05-14 в 00.06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1577" y="3397742"/>
            <a:ext cx="8918189" cy="278693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prak2.png" descr="prak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97582" y="1599989"/>
            <a:ext cx="7685179" cy="45846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prak9.png" descr="prak9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7948" y="8027952"/>
            <a:ext cx="9466640" cy="5637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prak14.png" descr="prak14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021081" y="8027952"/>
            <a:ext cx="9466639" cy="56378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warp dir="in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NBA CHAMPION"/>
          <p:cNvSpPr txBox="1"/>
          <p:nvPr>
            <p:ph type="title"/>
          </p:nvPr>
        </p:nvSpPr>
        <p:spPr>
          <a:xfrm>
            <a:off x="1206500" y="948957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NBA CHAMPION</a:t>
            </a:r>
          </a:p>
        </p:txBody>
      </p:sp>
      <p:sp>
        <p:nvSpPr>
          <p:cNvPr id="247" name="Как себя показали модели и лучшие признаки"/>
          <p:cNvSpPr txBox="1"/>
          <p:nvPr/>
        </p:nvSpPr>
        <p:spPr>
          <a:xfrm>
            <a:off x="1187702" y="2393064"/>
            <a:ext cx="10528695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Как себя показали модели и лучшие признаки </a:t>
            </a:r>
          </a:p>
        </p:txBody>
      </p:sp>
      <p:sp>
        <p:nvSpPr>
          <p:cNvPr id="248" name="Предсказание победителя моделью, показавшей лучший результат, и моделью результат, которой я счел наиболее реальным"/>
          <p:cNvSpPr txBox="1"/>
          <p:nvPr/>
        </p:nvSpPr>
        <p:spPr>
          <a:xfrm>
            <a:off x="777462" y="6542111"/>
            <a:ext cx="23695923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Предсказание победителя моделью, показавшей лучший результат, и моделью результат, которой я счел наиболее реальным</a:t>
            </a:r>
          </a:p>
        </p:txBody>
      </p:sp>
      <p:sp>
        <p:nvSpPr>
          <p:cNvPr id="249" name="LightGBM - по метрикам"/>
          <p:cNvSpPr txBox="1"/>
          <p:nvPr/>
        </p:nvSpPr>
        <p:spPr>
          <a:xfrm>
            <a:off x="809128" y="7285032"/>
            <a:ext cx="5037738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LightGBM - по метрикам</a:t>
            </a:r>
          </a:p>
        </p:txBody>
      </p:sp>
      <p:sp>
        <p:nvSpPr>
          <p:cNvPr id="250" name="RandomForest - по моему мнению"/>
          <p:cNvSpPr txBox="1"/>
          <p:nvPr/>
        </p:nvSpPr>
        <p:spPr>
          <a:xfrm>
            <a:off x="13316379" y="7285032"/>
            <a:ext cx="6638561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RandomForest - по моему мнению</a:t>
            </a:r>
          </a:p>
        </p:txBody>
      </p:sp>
      <p:pic>
        <p:nvPicPr>
          <p:cNvPr id="251" name="Снимок экрана 2026-05-14 в 00.06.30.png" descr="Снимок экрана 2026-05-14 в 00.06.3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81972" y="3285656"/>
            <a:ext cx="10144802" cy="3011107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" name="prak1.png" descr="prak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033709" y="981914"/>
            <a:ext cx="9266797" cy="5528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prak8.png" descr="prak8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51047" y="7765288"/>
            <a:ext cx="9893297" cy="5891964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prak13.png" descr="prak13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720459" y="7765288"/>
            <a:ext cx="9893297" cy="58919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warp dir="in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IMG_1796.JPG" descr="IMG_179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2379122"/>
            <a:ext cx="24384001" cy="16219056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Спасибо за внимание!"/>
          <p:cNvSpPr txBox="1"/>
          <p:nvPr/>
        </p:nvSpPr>
        <p:spPr>
          <a:xfrm>
            <a:off x="4258386" y="10124216"/>
            <a:ext cx="15867228" cy="184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232" sz="11600"/>
            </a:lvl1pPr>
          </a:lstStyle>
          <a:p>
            <a:pPr/>
            <a:r>
              <a:t>Спасибо за внимание!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